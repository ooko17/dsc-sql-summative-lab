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D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0666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EXPLORATORY ANALYSIS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5093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makes a movie land with audiences?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292534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data, movies released 2010 to 2019: 146,144 titles across 8 linked tables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D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Initial exploration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07"/>
            <a:ext cx="3386667" cy="2532195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925307"/>
            <a:ext cx="2965027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0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880320"/>
            <a:ext cx="296502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 rates highest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3225734"/>
            <a:ext cx="2965027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its median film has only 21 votes, so few people see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67" y="1671307"/>
            <a:ext cx="3386667" cy="2532195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56667" y="1925307"/>
            <a:ext cx="2965027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56667" y="2880320"/>
            <a:ext cx="296502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Horror rates lowest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6667" y="3225734"/>
            <a:ext cx="2965027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Action, Thriller and Sci-Fi also sit below 5.8 on average.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534" y="1671307"/>
            <a:ext cx="3386667" cy="2532195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46534" y="1925307"/>
            <a:ext cx="2965027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46534" y="2880320"/>
            <a:ext cx="2965027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draws the biggest crowds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46534" y="3469548"/>
            <a:ext cx="2965027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median votes of any genre, with Crime next at about 204.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620" y="4559102"/>
            <a:ext cx="1079195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creeps up over the decade (6.27 in 2010, 6.38 in 2018).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barely relates to rating; rating and votes are weakly negative (-0.25).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0906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movies with genre and runtime, 2010-2019 (65,720 titles); genres with 500+ titles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D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Business question for deeper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07"/>
            <a:ext cx="3302000" cy="3743854"/>
          </a:xfrm>
          <a:prstGeom prst="roundRect">
            <a:avLst>
              <a:gd name="adj" fmla="val 3077"/>
            </a:avLst>
          </a:prstGeom>
          <a:solidFill>
            <a:srgbClr val="1D2A3A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1925307"/>
            <a:ext cx="2773172" cy="148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Which genres give a new studio the best balance of audience approval (rating) and audience reach (votes) for a 2020 slate?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7600" y="3534901"/>
            <a:ext cx="277317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 does that balance hold once runtime and release year are controlled for?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21200" y="1620507"/>
            <a:ext cx="70637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by genre (median votes per film)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21200" y="2070035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18200" y="2054820"/>
            <a:ext cx="4413250" cy="279400"/>
          </a:xfrm>
          <a:prstGeom prst="roundRect">
            <a:avLst>
              <a:gd name="adj" fmla="val 13636"/>
            </a:avLst>
          </a:prstGeom>
          <a:solidFill>
            <a:srgbClr val="B0CAE0"/>
          </a:solidFill>
          <a:ln/>
        </p:spPr>
      </p:sp>
      <p:sp>
        <p:nvSpPr>
          <p:cNvPr id="9" name="Text 7"/>
          <p:cNvSpPr/>
          <p:nvPr/>
        </p:nvSpPr>
        <p:spPr>
          <a:xfrm>
            <a:off x="10458450" y="1963407"/>
            <a:ext cx="9715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7.32 </a:t>
            </a:r>
            <a:r>
              <a:rPr lang="en-US" sz="13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21 votes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1200" y="2646561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Biography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18200" y="2631348"/>
            <a:ext cx="4324350" cy="279400"/>
          </a:xfrm>
          <a:prstGeom prst="roundRect">
            <a:avLst>
              <a:gd name="adj" fmla="val 13636"/>
            </a:avLst>
          </a:prstGeom>
          <a:solidFill>
            <a:srgbClr val="A2BED5"/>
          </a:solidFill>
          <a:ln/>
        </p:spPr>
      </p:sp>
      <p:sp>
        <p:nvSpPr>
          <p:cNvPr id="12" name="Text 10"/>
          <p:cNvSpPr/>
          <p:nvPr/>
        </p:nvSpPr>
        <p:spPr>
          <a:xfrm>
            <a:off x="10369550" y="2539935"/>
            <a:ext cx="106045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7.17 </a:t>
            </a:r>
            <a:r>
              <a:rPr lang="en-US" sz="13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41 votes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1200" y="3131676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18200" y="3116461"/>
            <a:ext cx="3854450" cy="279400"/>
          </a:xfrm>
          <a:prstGeom prst="roundRect">
            <a:avLst>
              <a:gd name="adj" fmla="val 13636"/>
            </a:avLst>
          </a:prstGeom>
          <a:solidFill>
            <a:srgbClr val="85A4BF"/>
          </a:solidFill>
          <a:ln/>
        </p:spPr>
      </p:sp>
      <p:sp>
        <p:nvSpPr>
          <p:cNvPr id="15" name="Text 13"/>
          <p:cNvSpPr/>
          <p:nvPr/>
        </p:nvSpPr>
        <p:spPr>
          <a:xfrm>
            <a:off x="9899650" y="3140605"/>
            <a:ext cx="129619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6.39 </a:t>
            </a:r>
            <a:r>
              <a:rPr lang="en-US" sz="13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85 votes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1200" y="3525376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18200" y="3510161"/>
            <a:ext cx="3619500" cy="279400"/>
          </a:xfrm>
          <a:prstGeom prst="roundRect">
            <a:avLst>
              <a:gd name="adj" fmla="val 13636"/>
            </a:avLst>
          </a:prstGeom>
          <a:solidFill>
            <a:srgbClr val="6E8FAD"/>
          </a:solidFill>
          <a:ln/>
        </p:spPr>
      </p:sp>
      <p:sp>
        <p:nvSpPr>
          <p:cNvPr id="18" name="Text 16"/>
          <p:cNvSpPr/>
          <p:nvPr/>
        </p:nvSpPr>
        <p:spPr>
          <a:xfrm>
            <a:off x="9664700" y="3534305"/>
            <a:ext cx="139168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6.01 </a:t>
            </a:r>
            <a:r>
              <a:rPr lang="en-US" sz="13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119 votes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1200" y="3919076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18200" y="3903861"/>
            <a:ext cx="3486150" cy="279400"/>
          </a:xfrm>
          <a:prstGeom prst="roundRect">
            <a:avLst>
              <a:gd name="adj" fmla="val 13636"/>
            </a:avLst>
          </a:prstGeom>
          <a:solidFill>
            <a:srgbClr val="1D4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531350" y="3928005"/>
            <a:ext cx="140636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5.78 </a:t>
            </a:r>
            <a:r>
              <a:rPr lang="en-US" sz="13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242 votes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1200" y="4312776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Thriller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18200" y="4297561"/>
            <a:ext cx="3371850" cy="279400"/>
          </a:xfrm>
          <a:prstGeom prst="roundRect">
            <a:avLst>
              <a:gd name="adj" fmla="val 13636"/>
            </a:avLst>
          </a:prstGeom>
          <a:solidFill>
            <a:srgbClr val="507495"/>
          </a:solidFill>
          <a:ln/>
        </p:spPr>
      </p:sp>
      <p:sp>
        <p:nvSpPr>
          <p:cNvPr id="24" name="Text 22"/>
          <p:cNvSpPr/>
          <p:nvPr/>
        </p:nvSpPr>
        <p:spPr>
          <a:xfrm>
            <a:off x="9417050" y="4321705"/>
            <a:ext cx="140636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5.59 </a:t>
            </a:r>
            <a:r>
              <a:rPr lang="en-US" sz="13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165 votes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1200" y="4706476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Sci-Fi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18200" y="4691261"/>
            <a:ext cx="3270250" cy="279400"/>
          </a:xfrm>
          <a:prstGeom prst="roundRect">
            <a:avLst>
              <a:gd name="adj" fmla="val 13636"/>
            </a:avLst>
          </a:prstGeom>
          <a:solidFill>
            <a:srgbClr val="547798"/>
          </a:solidFill>
          <a:ln/>
        </p:spPr>
      </p:sp>
      <p:sp>
        <p:nvSpPr>
          <p:cNvPr id="27" name="Text 25"/>
          <p:cNvSpPr/>
          <p:nvPr/>
        </p:nvSpPr>
        <p:spPr>
          <a:xfrm>
            <a:off x="9315450" y="4715405"/>
            <a:ext cx="140636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5.43 </a:t>
            </a:r>
            <a:r>
              <a:rPr lang="en-US" sz="13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159 votes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1200" y="5100176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Horror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18200" y="5084961"/>
            <a:ext cx="2971800" cy="279400"/>
          </a:xfrm>
          <a:prstGeom prst="roundRect">
            <a:avLst>
              <a:gd name="adj" fmla="val 13636"/>
            </a:avLst>
          </a:prstGeom>
          <a:solidFill>
            <a:srgbClr val="7999B5"/>
          </a:solidFill>
          <a:ln/>
        </p:spPr>
      </p:sp>
      <p:sp>
        <p:nvSpPr>
          <p:cNvPr id="30" name="Text 28"/>
          <p:cNvSpPr/>
          <p:nvPr/>
        </p:nvSpPr>
        <p:spPr>
          <a:xfrm>
            <a:off x="9017000" y="5109105"/>
            <a:ext cx="140636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4.93 </a:t>
            </a:r>
            <a:r>
              <a:rPr lang="en-US" sz="13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103 votes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81323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Higher-rated genres reach small audiences; high-reach genres rate lower. Source: IMDB, 2010-2019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D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cleaning tasks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07"/>
            <a:ext cx="5194300" cy="1131491"/>
          </a:xfrm>
          <a:prstGeom prst="roundRect">
            <a:avLst>
              <a:gd name="adj" fmla="val 897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823707"/>
            <a:ext cx="49315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Out-of-range years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16000" y="2103107"/>
            <a:ext cx="493153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1,063 titles with start_year after 2019 (one is 2115).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84900" y="1620507"/>
            <a:ext cx="5194300" cy="1131491"/>
          </a:xfrm>
          <a:prstGeom prst="roundRect">
            <a:avLst>
              <a:gd name="adj" fmla="val 897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388100" y="1823707"/>
            <a:ext cx="49315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handling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88100" y="2103107"/>
            <a:ext cx="493153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Exclude, never fill: 31,739 null runtimes, 5,408 null genres, 72,288 unrated movies.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800" y="2929798"/>
            <a:ext cx="5194300" cy="908645"/>
          </a:xfrm>
          <a:prstGeom prst="roundRect">
            <a:avLst>
              <a:gd name="adj" fmla="val 1118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132998"/>
            <a:ext cx="49315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genres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6000" y="3412398"/>
            <a:ext cx="493153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comma-separated genres into one row per genre.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4900" y="2929798"/>
            <a:ext cx="5194300" cy="908645"/>
          </a:xfrm>
          <a:prstGeom prst="roundRect">
            <a:avLst>
              <a:gd name="adj" fmla="val 1118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88100" y="3132998"/>
            <a:ext cx="49315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outliers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88100" y="3412398"/>
            <a:ext cx="493153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run from 1 to 51,420 minutes; set a feature-film range.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4016243"/>
            <a:ext cx="5194300" cy="1131491"/>
          </a:xfrm>
          <a:prstGeom prst="roundRect">
            <a:avLst>
              <a:gd name="adj" fmla="val 897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219443"/>
            <a:ext cx="49315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ratings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16000" y="4498843"/>
            <a:ext cx="493153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minimum votes threshold; 12,146 ratings have under 10 votes.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84900" y="4016243"/>
            <a:ext cx="5194300" cy="1131491"/>
          </a:xfrm>
          <a:prstGeom prst="roundRect">
            <a:avLst>
              <a:gd name="adj" fmla="val 897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88100" y="4219443"/>
            <a:ext cx="49315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and types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88100" y="4498843"/>
            <a:ext cx="493153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1,870 repeated title and year pairs; standardize text-typed years and region codes.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DB Movie Data: Initial Exploration (2010-2019)">
  <a:themeElements>
    <a:clrScheme name="IMDB Movie Data: Initial Exploration (2010-2019)">
      <a:dk1>
        <a:srgbClr val="1D2A3A"/>
      </a:dk1>
      <a:lt1>
        <a:srgbClr val="F6F4EF"/>
      </a:lt1>
      <a:dk2>
        <a:srgbClr val="535D67"/>
      </a:dk2>
      <a:lt2>
        <a:srgbClr val="E0E0DD"/>
      </a:lt2>
      <a:accent1>
        <a:srgbClr val="E07A2F"/>
      </a:accent1>
      <a:accent2>
        <a:srgbClr val="2F6F9F"/>
      </a:accent2>
      <a:accent3>
        <a:srgbClr val="B0CAE0"/>
      </a:accent3>
      <a:accent4>
        <a:srgbClr val="A2BED5"/>
      </a:accent4>
      <a:accent5>
        <a:srgbClr val="85A4BF"/>
      </a:accent5>
      <a:accent6>
        <a:srgbClr val="6E8FAD"/>
      </a:accent6>
      <a:hlink>
        <a:srgbClr val="0563C1"/>
      </a:hlink>
      <a:folHlink>
        <a:srgbClr val="954F72"/>
      </a:folHlink>
    </a:clrScheme>
    <a:fontScheme name="IMDB Movie Data: Initial Exploration (2010-2019)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Movie Data: Initial Exploration (2010-2019)</dc:title>
  <dc:subject/>
  <dc:creator/>
  <cp:lastModifiedBy/>
  <cp:revision>1</cp:revision>
  <dcterms:created xsi:type="dcterms:W3CDTF">2026-10-22T08:12:36Z</dcterms:created>
  <dcterms:modified xsi:type="dcterms:W3CDTF">2026-10-22T08:12:36Z</dcterms:modified>
</cp:coreProperties>
</file>